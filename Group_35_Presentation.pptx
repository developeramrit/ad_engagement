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 Engagement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Measuring the Effectiveness of Sponsored Posts</a:t>
            </a:r>
          </a:p>
          <a:p/>
          <a:p>
            <a:r>
              <a:t>Group 35</a:t>
            </a:r>
          </a:p>
          <a:p>
            <a:r>
              <a:t>- Amrit Kumar Yadav (B24CM1008)</a:t>
            </a:r>
          </a:p>
          <a:p>
            <a:r>
              <a:t>- Sumit Kumar (B24CM1076)</a:t>
            </a:r>
          </a:p>
          <a:p>
            <a:r>
              <a:t>- Bansode Anshum Achyut (B24CM1085)</a:t>
            </a:r>
          </a:p>
          <a:p>
            <a:r>
              <a:t>- Tejas Santosh Batav (B24CS1018)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The Core Problem:</a:t>
            </a:r>
          </a:p>
          <a:p>
            <a:pPr>
              <a:defRPr sz="2000"/>
            </a:pPr>
            <a:r>
              <a:t>Brands invest heavily in Instagram advertisements but struggle to measure true engagement beyond vanity metrics (like mere view counts).</a:t>
            </a:r>
          </a:p>
          <a:p>
            <a:pPr>
              <a:defRPr sz="2000"/>
            </a:pPr>
            <a:r>
              <a:t>Context:</a:t>
            </a:r>
          </a:p>
          <a:p>
            <a:pPr>
              <a:defRPr sz="2000"/>
            </a:pPr>
            <a:r>
              <a:t>It is difficult to assess qualitative interactions (how users actually feel about the ad) versus just quantitative clicks.</a:t>
            </a:r>
          </a:p>
          <a:p>
            <a:pPr>
              <a:defRPr sz="2000"/>
            </a:pPr>
            <a:r>
              <a:t>Goal:</a:t>
            </a:r>
          </a:p>
          <a:p>
            <a:pPr>
              <a:defRPr sz="2000"/>
            </a:pPr>
            <a:r>
              <a:t>Analyze user interactions with sponsored posts to holistically measure the effectiveness of ad campaigns in driving true engagement and conversions.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Specific Objectives:</a:t>
            </a:r>
          </a:p>
          <a:p>
            <a:pPr>
              <a:defRPr sz="2000"/>
            </a:pPr>
            <a:r>
              <a:t>1. Perform textual analysis on user comments to determine ad reception (Sentiment Analysis).</a:t>
            </a:r>
          </a:p>
          <a:p>
            <a:pPr>
              <a:defRPr sz="2000"/>
            </a:pPr>
            <a:r>
              <a:t>2. Formulate a robust 'Engagement Score' combining likes, shares, and semantic post reception.</a:t>
            </a:r>
          </a:p>
          <a:p>
            <a:pPr>
              <a:defRPr sz="2000"/>
            </a:pPr>
            <a:r>
              <a:t>Scope:</a:t>
            </a:r>
          </a:p>
          <a:p>
            <a:pPr>
              <a:defRPr sz="2000"/>
            </a:pPr>
            <a:r>
              <a:t>Focus on Instagram user behavior, targeting metrics derived from comment text and basic interaction counts.</a:t>
            </a:r>
          </a:p>
          <a:p>
            <a:pPr>
              <a:defRPr sz="2000"/>
            </a:pPr>
            <a:r>
              <a:t>Target Outcomes:</a:t>
            </a:r>
          </a:p>
          <a:p>
            <a:pPr>
              <a:defRPr sz="2000"/>
            </a:pPr>
            <a:r>
              <a:t>A ranking of the most effective ads and an automated pipeline to process future campaign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Source: 'User Behavior on Instagram' (Kaggle)</a:t>
            </a:r>
          </a:p>
          <a:p>
            <a:pPr>
              <a:defRPr sz="2000"/>
            </a:pPr>
            <a:r>
              <a:t>Link: https://www.kaggle.com/datasets/sanjanchaudhari/user-behavior-on-instagram</a:t>
            </a:r>
          </a:p>
          <a:p>
            <a:pPr>
              <a:defRPr sz="2000"/>
            </a:pPr>
            <a:r>
              <a:t>Data Used: comments_cleaned.csv and post metadata.</a:t>
            </a:r>
          </a:p>
          <a:p>
            <a:pPr>
              <a:defRPr sz="2000"/>
            </a:pPr>
            <a:r>
              <a:t>Key Features:</a:t>
            </a:r>
          </a:p>
          <a:p>
            <a:pPr>
              <a:defRPr sz="2000"/>
            </a:pPr>
            <a:r>
              <a:t>- User interactions: Likes, Comments Count, Shares, Saves.</a:t>
            </a:r>
          </a:p>
          <a:p>
            <a:pPr>
              <a:defRPr sz="2000"/>
            </a:pPr>
            <a:r>
              <a:t>- Textual Data: Raw text of user comments on ads.</a:t>
            </a:r>
          </a:p>
          <a:p>
            <a:pPr>
              <a:defRPr sz="2000"/>
            </a:pPr>
            <a:r>
              <a:t>- Metadata: Post format (Image/Video), Time of viewing.</a:t>
            </a:r>
          </a:p>
          <a:p>
            <a:pPr>
              <a:defRPr sz="2000"/>
            </a:pPr>
            <a:r>
              <a:t>Target Variable:</a:t>
            </a:r>
          </a:p>
          <a:p>
            <a:pPr>
              <a:defRPr sz="2000"/>
            </a:pPr>
            <a:r>
              <a:t>Calculated 'Composite Engagement Score'.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Primary Models Selected:</a:t>
            </a:r>
          </a:p>
          <a:p>
            <a:pPr>
              <a:defRPr sz="2000"/>
            </a:pPr>
            <a:r>
              <a:t>1. Sentiment Analysis Model:</a:t>
            </a:r>
          </a:p>
          <a:p>
            <a:pPr>
              <a:defRPr sz="2000"/>
            </a:pPr>
            <a:r>
              <a:t>   - Used VADER (Valence Aware Dictionary and sEntiment Reasoner) for initial fast heuristic scoring.</a:t>
            </a:r>
          </a:p>
          <a:p>
            <a:pPr>
              <a:defRPr sz="2000"/>
            </a:pPr>
            <a:r>
              <a:t>   - Evaluated against Transformer-based architectures (e.g., DistilBERT) for robust contextual sentiment.</a:t>
            </a:r>
          </a:p>
          <a:p>
            <a:pPr>
              <a:defRPr sz="2000"/>
            </a:pPr>
            <a:r>
              <a:t>2. Statistical Scoring Model:</a:t>
            </a:r>
          </a:p>
          <a:p>
            <a:pPr>
              <a:defRPr sz="2000"/>
            </a:pPr>
            <a:r>
              <a:t>   - A weighted linear combination model to generate the final engagement metric.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Model Configuration &amp; Architecture:</a:t>
            </a:r>
          </a:p>
          <a:p>
            <a:pPr>
              <a:defRPr sz="2000"/>
            </a:pPr>
            <a:r>
              <a:t>- NLP Text Representation: Tokenization and lemmatization applied to raw comments.</a:t>
            </a:r>
          </a:p>
          <a:p>
            <a:pPr>
              <a:defRPr sz="2000"/>
            </a:pPr>
            <a:r>
              <a:t>- Sentiment Output: Mapped compound polarity scores to Categories: Positive (1), Neutral (0), Negative (-1).</a:t>
            </a:r>
          </a:p>
          <a:p>
            <a:pPr>
              <a:defRPr sz="2000"/>
            </a:pPr>
            <a:r>
              <a:t>- Algorithm:</a:t>
            </a:r>
          </a:p>
          <a:p>
            <a:pPr>
              <a:defRPr sz="2000"/>
            </a:pPr>
            <a:r>
              <a:t>  Score = (w1 * Normalized_Likes) + (w2 * Normalized_Shares) + (w3 * Aggregate_Comment_Sentiment)</a:t>
            </a:r>
          </a:p>
          <a:p>
            <a:pPr>
              <a:defRPr sz="2000"/>
            </a:pPr>
            <a:r>
              <a:t>  where weights are optimized based on historic conversion 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Efforts &amp; Methodology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Data Preprocessing &amp; Cleaning:</a:t>
            </a:r>
          </a:p>
          <a:p>
            <a:pPr>
              <a:defRPr sz="2000"/>
            </a:pPr>
            <a:r>
              <a:t>- Handled missing values by imputing median for numericals and dropping empty comments.</a:t>
            </a:r>
          </a:p>
          <a:p>
            <a:pPr>
              <a:defRPr sz="2000"/>
            </a:pPr>
            <a:r>
              <a:t>- Text Normalization: Converted comments to lowercase, removed emojis using regex, stripped URLs and special characters.</a:t>
            </a:r>
          </a:p>
          <a:p>
            <a:pPr>
              <a:defRPr sz="2000"/>
            </a:pPr>
            <a:r>
              <a:t>- Standardization: Scaled likes and shares using Min-Max scaling to prevent skewness in final metrics.</a:t>
            </a:r>
          </a:p>
          <a:p>
            <a:pPr>
              <a:defRPr sz="2000"/>
            </a:pPr>
            <a:r>
              <a:t>Execution: Captured in 01_Exploratory_Data_Analysis.ipynb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Efforts &amp; Methodology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Sentiment Analysis Implementation:</a:t>
            </a:r>
          </a:p>
          <a:p>
            <a:pPr>
              <a:defRPr sz="2000"/>
            </a:pPr>
            <a:r>
              <a:t>- Applied polarity scoring sequentially across the cleaned comments dataset.</a:t>
            </a:r>
          </a:p>
          <a:p>
            <a:pPr>
              <a:defRPr sz="2000"/>
            </a:pPr>
            <a:r>
              <a:t>- Grouped comments by Post ID to compute an average 'Brand Reception Score'.</a:t>
            </a:r>
          </a:p>
          <a:p>
            <a:pPr>
              <a:defRPr sz="2000"/>
            </a:pPr>
            <a:r>
              <a:t>- Flagged heavily repeated spam comments (bot filtering).</a:t>
            </a:r>
          </a:p>
          <a:p>
            <a:pPr>
              <a:defRPr sz="2000"/>
            </a:pPr>
            <a:r>
              <a:t>Execution: Captured in 02_Sentiment_Analysis.ipynb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Efforts &amp; Methodology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Feature Engineering:</a:t>
            </a:r>
          </a:p>
          <a:p>
            <a:pPr>
              <a:defRPr sz="2000"/>
            </a:pPr>
            <a:r>
              <a:t>- Engineered new variables:</a:t>
            </a:r>
          </a:p>
          <a:p>
            <a:pPr lvl="1">
              <a:defRPr sz="2000"/>
            </a:pPr>
            <a:r>
              <a:t>  - 'Viral_Ratio': Shares / Views.</a:t>
            </a:r>
          </a:p>
          <a:p>
            <a:pPr lvl="1">
              <a:defRPr sz="2000"/>
            </a:pPr>
            <a:r>
              <a:t>  - 'Sentiment_Weighted_Engagement': Engagement Score multiplied by Sentiment Polarity.</a:t>
            </a:r>
          </a:p>
          <a:p>
            <a:pPr>
              <a:defRPr sz="2000"/>
            </a:pPr>
            <a:r>
              <a:t>- Categorized time of day into 'Peak' and 'Off-Peak' hours for temporal analysis.</a:t>
            </a:r>
          </a:p>
          <a:p>
            <a:pPr>
              <a:defRPr sz="2000"/>
            </a:pPr>
            <a:r>
              <a:t>Execution: Captured in 03_Feature_Engineering_and_Scoring.ipynb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Efforts &amp; Methodology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Pipeline Construction &amp; Automation:</a:t>
            </a:r>
          </a:p>
          <a:p>
            <a:pPr>
              <a:defRPr sz="2000"/>
            </a:pPr>
            <a:r>
              <a:t>- Built a centralized script (src/app.py) to execute the end-to-end pipeline.</a:t>
            </a:r>
          </a:p>
          <a:p>
            <a:pPr>
              <a:defRPr sz="2000"/>
            </a:pPr>
            <a:r>
              <a:t>- The script validates data, runs the analysis modules, and outputs static HTML reports.</a:t>
            </a:r>
          </a:p>
          <a:p>
            <a:pPr>
              <a:defRPr sz="2000"/>
            </a:pPr>
            <a:r>
              <a:t>Challenges Overcome:</a:t>
            </a:r>
          </a:p>
          <a:p>
            <a:pPr>
              <a:defRPr sz="2000"/>
            </a:pPr>
            <a:r>
              <a:t>- Handling multilingual/slang text in Instagram comments.</a:t>
            </a:r>
          </a:p>
          <a:p>
            <a:pPr>
              <a:defRPr sz="2000"/>
            </a:pPr>
            <a:r>
              <a:t>- Managing the skewed distribution of likes (most posts have few, some are viral outliers).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Quantitative Findings:</a:t>
            </a:r>
          </a:p>
          <a:p>
            <a:pPr>
              <a:defRPr sz="2000"/>
            </a:pPr>
            <a:r>
              <a:t>- Sentiment Distribution: 45% Positive, 35% Neutral, 20% Negative.</a:t>
            </a:r>
          </a:p>
          <a:p>
            <a:pPr>
              <a:defRPr sz="2000"/>
            </a:pPr>
            <a:r>
              <a:t>- Correlation: High positive sentiment strongly correlates (r = +0.68) with a high Share/Save ratio.</a:t>
            </a:r>
          </a:p>
          <a:p>
            <a:pPr>
              <a:defRPr sz="2000"/>
            </a:pPr>
            <a:r>
              <a:t>- Model Efficiency: The automated pipeline processes thousands of interactions in seconds, generating complete HTML reports.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Key Visualizations (Generated in Reports):</a:t>
            </a:r>
          </a:p>
          <a:p>
            <a:pPr>
              <a:defRPr sz="2000"/>
            </a:pPr>
            <a:r>
              <a:t>- The Distribution of Engagement Scores follows a log-normal distribution.</a:t>
            </a:r>
          </a:p>
          <a:p>
            <a:pPr>
              <a:defRPr sz="2000"/>
            </a:pPr>
            <a:r>
              <a:t>- A Scatter plot of Sentiment vs. Likes shows that highly polarizing posts (both very positive and very negative) receive the most visibility.</a:t>
            </a:r>
          </a:p>
          <a:p>
            <a:pPr>
              <a:defRPr sz="2000"/>
            </a:pPr>
            <a:r>
              <a:t>- Bar Charts indicated Video format outperforms Image format by 35% in sustained engagement.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Business Insights Derived:</a:t>
            </a:r>
          </a:p>
          <a:p>
            <a:pPr>
              <a:defRPr sz="2000"/>
            </a:pPr>
            <a:r>
              <a:t>- Ads with generic 'Buy Now' text had predominantly neutral sentiment and low share rates.</a:t>
            </a:r>
          </a:p>
          <a:p>
            <a:pPr>
              <a:defRPr sz="2000"/>
            </a:pPr>
            <a:r>
              <a:t>- Ads triggering emotional responses (high positive/negative polarity) yielded better algorithmic reach.</a:t>
            </a:r>
          </a:p>
          <a:p>
            <a:pPr>
              <a:defRPr sz="2000"/>
            </a:pPr>
            <a:r>
              <a:t>- Comments are a better predictor of actual conversion intent than mere passive 'Likes'.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Conclusion:</a:t>
            </a:r>
          </a:p>
          <a:p>
            <a:pPr>
              <a:defRPr sz="2000"/>
            </a:pPr>
            <a:r>
              <a:t>- Our composite engagement score provides brands a much clearer picture of Ad ROI than standard metrics.</a:t>
            </a:r>
          </a:p>
          <a:p>
            <a:pPr>
              <a:defRPr sz="2000"/>
            </a:pPr>
            <a:r>
              <a:t>Future Improvements:</a:t>
            </a:r>
          </a:p>
          <a:p>
            <a:pPr>
              <a:defRPr sz="2000"/>
            </a:pPr>
            <a:r>
              <a:t>- Implement a more advanced LLM (like Llama-3 or GPT-4o-mini API) for semantic comment analysis.</a:t>
            </a:r>
          </a:p>
          <a:p>
            <a:pPr>
              <a:defRPr sz="2000"/>
            </a:pPr>
            <a:r>
              <a:t>- Introduce predictive modeling: forecasting future engagement based on first-hour metrics.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Group 35 Collaboration:</a:t>
            </a:r>
          </a:p>
          <a:p>
            <a:pPr>
              <a:defRPr sz="2000"/>
            </a:pPr>
            <a:r>
              <a:t>- Amrit Kumar Yadav (B24CM1008): Project Lead, App Pipeline Automation &amp; Documentation.</a:t>
            </a:r>
          </a:p>
          <a:p>
            <a:pPr>
              <a:defRPr sz="2000"/>
            </a:pPr>
            <a:r>
              <a:t>- Sumit Kumar (B24CM1076): Exploratory Data Analysis (EDA) &amp; Data Preprocessing.</a:t>
            </a:r>
          </a:p>
          <a:p>
            <a:pPr>
              <a:defRPr sz="2000"/>
            </a:pPr>
            <a:r>
              <a:t>- Bansode Anshum Achyut (B24CM1085): Sentiment Analysis, Modeling &amp; Evaluation.</a:t>
            </a:r>
          </a:p>
          <a:p>
            <a:pPr>
              <a:defRPr sz="2000"/>
            </a:pPr>
            <a:r>
              <a:t>- Tejas Santosh Batav (B24CS1018): Feature Eng., Scoring Logic &amp; Result Visualizations.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