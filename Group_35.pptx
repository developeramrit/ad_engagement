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45</c:v>
                </c:pt>
                <c:pt idx="1">
                  <c:v>35</c:v>
                </c:pt>
                <c:pt idx="2">
                  <c:v>20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351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A2351"/>
                </a:solidFill>
                <a:latin typeface="Arial"/>
              </a:rPr>
              <a:t>Sustained Engagement: Image vs. Video Format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Engagement Index</c:v>
                </c:pt>
              </c:strCache>
            </c:strRef>
          </c:tx>
          <c:spPr>
            <a:solidFill>
              <a:srgbClr val="93C5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Image Ads</c:v>
                  </c:pt>
                  <c:pt idx="1">
                    <c:v>Video Ads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135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1E2F6A"/>
          </a:solidFill>
          <a:ln/>
        </p:spPr>
      </p:sp>
      <p:sp>
        <p:nvSpPr>
          <p:cNvPr id="4" name="Shape 2"/>
          <p:cNvSpPr/>
          <p:nvPr/>
        </p:nvSpPr>
        <p:spPr>
          <a:xfrm>
            <a:off x="7498080" y="0"/>
            <a:ext cx="1645920" cy="5143500"/>
          </a:xfrm>
          <a:prstGeom prst="rect">
            <a:avLst/>
          </a:prstGeom>
          <a:solidFill>
            <a:srgbClr val="1A2860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8229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35  •  DATA ANALYTICS PROJECT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11480" y="1188720"/>
            <a:ext cx="6035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Engagement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11480" y="3154680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the Effectiveness of Sponsored Posts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11480" y="3749040"/>
            <a:ext cx="32004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3886200"/>
            <a:ext cx="6035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 Kumar Yadav  •  B24CM1008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Sumit Kumar  •  B24CM1076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Bansode Anshum Achyut  •  B24CM1085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Tejas Santosh Batav  •  B24CS1018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7830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 the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4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›  Problem Statement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685800"/>
            <a:ext cx="73152" cy="44577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868680"/>
            <a:ext cx="40233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CBD5E1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68680"/>
            <a:ext cx="4023360" cy="34747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384048" y="868680"/>
            <a:ext cx="3803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The Core Problem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52728"/>
            <a:ext cx="374904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 invest heavily in Instagram ads but struggle to measure true engagement beyond vanity metrics like mere view counts.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377440"/>
            <a:ext cx="40233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CBD5E1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2377440"/>
            <a:ext cx="4023360" cy="34747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" y="2377440"/>
            <a:ext cx="3803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Context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2761488"/>
            <a:ext cx="374904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difficult to assess qualitative interactions (how users feel about the ad) versus just quantitative clicks.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17720" y="868680"/>
            <a:ext cx="4206240" cy="2880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CBD5E1">
                <a:alpha val="4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868680"/>
            <a:ext cx="4206240" cy="34747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4727448" y="868680"/>
            <a:ext cx="3986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Goal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1252728"/>
            <a:ext cx="3931920" cy="2404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user interactions with sponsored posts to holistically measure the effectiveness of ad campaigns in driving true engagement and conversions.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›  Problem Statement — Objectives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685800"/>
            <a:ext cx="73152" cy="44577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868680"/>
            <a:ext cx="39776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CBD5E1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68680"/>
            <a:ext cx="548640" cy="21031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" y="868680"/>
            <a:ext cx="548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10058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Textual Analysis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146304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sentiment analysis on user comments to determine ad reception.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17720" y="868680"/>
            <a:ext cx="39776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CBD5E1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868680"/>
            <a:ext cx="548640" cy="21031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4636008" y="868680"/>
            <a:ext cx="548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303520" y="10058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Score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303520" y="146304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Formulate a robust score combining likes, shares, and semantic post reception.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3200400"/>
            <a:ext cx="8595360" cy="65836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20040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103120" y="320040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Instagram user behavior, targeting metrics derived from comment text and basic interaction counts.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3977640"/>
            <a:ext cx="8595360" cy="658368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97764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Outcomes: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03120" y="397764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ranking of the most effective ads + an automated pipeline to process future campaign data.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7830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4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›  Dataset Description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685800"/>
            <a:ext cx="73152" cy="44577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868680"/>
            <a:ext cx="8595360" cy="530352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868680"/>
            <a:ext cx="8321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51"/>
                </a:solidFill>
              </a:rPr>
              <a:t>Source: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'User Behavior on Instagram'  (Kaggle)  • 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Data: comments_cleaned.csv + post metadata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600200"/>
            <a:ext cx="41605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CBD5E1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600200"/>
            <a:ext cx="416052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6916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User Interactions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3931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Likes · Comments Count · Shares · Saves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600200"/>
            <a:ext cx="41605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CBD5E1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600200"/>
            <a:ext cx="416052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6916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Textual Data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2057400"/>
            <a:ext cx="3931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text of user comments on sponsored ads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3017520"/>
            <a:ext cx="41605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CBD5E1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3017520"/>
            <a:ext cx="416052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310896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  Metadata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3474720"/>
            <a:ext cx="3931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format (Image / Video) · Time of viewing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017520"/>
            <a:ext cx="41605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CBD5E1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3017520"/>
            <a:ext cx="416052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310896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Target Variable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00600" y="3474720"/>
            <a:ext cx="3931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Calculated Composite Engagement Score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7830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&amp;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›  Models Used — Primary Selection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685800"/>
            <a:ext cx="73152" cy="44577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868680"/>
            <a:ext cx="85953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CBD5E1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68680"/>
            <a:ext cx="347472" cy="16916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68680"/>
            <a:ext cx="34747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" y="960120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Analysis Model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1371600"/>
            <a:ext cx="7955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VADER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(Valence Aware Dictionary and sEntiment Reasoner) — fast heuristic scoring
</a:t>
            </a:r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DistilBERT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(Transformer-based) — robust contextual sentiment evaluation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2743200"/>
            <a:ext cx="85953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CBD5E1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743200"/>
            <a:ext cx="347472" cy="13716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2743200"/>
            <a:ext cx="347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49808" y="2834640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Scoring Model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49808" y="3218688"/>
            <a:ext cx="7955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weighted linear combination model to generate the final engagement metric, combining quantitative interactions with qualitative sentiment signals.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›  Models Used — Configuration &amp; Architecture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685800"/>
            <a:ext cx="73152" cy="44577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868680"/>
            <a:ext cx="8595360" cy="59436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686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Text Representation: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0" y="86868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Tokenization and lemmatization applied to raw comments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581912"/>
            <a:ext cx="8595360" cy="59436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581912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Output: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08960" y="1581912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polarity → Positive (1) · Neutral (0) · Negative (−1)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2395728"/>
            <a:ext cx="8595360" cy="146304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48716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— Composite Engagement Score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28529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 =  (w₁ × Normalized_Likes)  +  (w₂ × Normalized_Shares)  +  (w₃ × Aggregate_Comment_Sentiment)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3429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(w₁, w₂, w₃) optimized based on historic conversion rates.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4023360"/>
            <a:ext cx="8595360" cy="77724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023360"/>
            <a:ext cx="8321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src/app.py validates data → runs analysis modules → outputs static HTML reports.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7830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Efforts &amp;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›  Efforts &amp; Methodology (1/4) — Data Preprocessing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685800"/>
            <a:ext cx="73152" cy="44577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41248"/>
            <a:ext cx="1371600" cy="47548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84124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737360" y="841248"/>
            <a:ext cx="7132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Preprocessing &amp; Cleaning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37360" y="132588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Notebook: 01_Exploratory_Data_Analysis.ipynb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8600" y="1737360"/>
            <a:ext cx="2743200" cy="3063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CBD5E1">
                <a:alpha val="3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" y="1737360"/>
            <a:ext cx="27432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" y="182880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🧹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93192" y="2468880"/>
            <a:ext cx="24140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 Handling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93192" y="2971800"/>
            <a:ext cx="2414016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Imputed median values for numerical fields. Empty comment rows were dropped entirely to preserve data quality in NLP processing.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154680" y="1737360"/>
            <a:ext cx="2743200" cy="3063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CBD5E1">
                <a:alpha val="3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154680" y="1737360"/>
            <a:ext cx="27432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3154680" y="182880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319272" y="2468880"/>
            <a:ext cx="24140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Normalization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19272" y="2971800"/>
            <a:ext cx="2414016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all comments to lowercase. Removed emojis via regex, stripped URLs, special characters, and stop words from raw text.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80760" y="1737360"/>
            <a:ext cx="2743200" cy="3063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CBD5E1">
                <a:alpha val="3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80760" y="1737360"/>
            <a:ext cx="27432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1" name="Text 19"/>
          <p:cNvSpPr/>
          <p:nvPr/>
        </p:nvSpPr>
        <p:spPr>
          <a:xfrm>
            <a:off x="6080760" y="182880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245352" y="2468880"/>
            <a:ext cx="24140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Standardization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45352" y="2971800"/>
            <a:ext cx="2414016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Min-Max scaling to Likes and Shares to prevent high-volume outliers from skewing the final composite engagement metrics.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28600" y="4828032"/>
            <a:ext cx="8686800" cy="201168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482803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Clean, normalized dataset ready for NLP pipeline ingestion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›  Efforts &amp; Methodology (2/4) — Sentiment Analysis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685800"/>
            <a:ext cx="73152" cy="44577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41248"/>
            <a:ext cx="1371600" cy="47548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84124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737360" y="841248"/>
            <a:ext cx="7132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Analysis Implementation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37360" y="132588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Notebook: 02_Sentiment_Analysis.ipynb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8600" y="1783080"/>
            <a:ext cx="4663440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CBD5E1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" y="1783080"/>
            <a:ext cx="502920" cy="87782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" y="1783080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1248" y="183794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Polarity Scoring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2167128"/>
            <a:ext cx="3931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VADER polarity scoring sequentially across every row of the cleaned comments dataset.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8600" y="2770632"/>
            <a:ext cx="4663440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CBD5E1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28600" y="2770632"/>
            <a:ext cx="502920" cy="87782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228600" y="2770632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" y="282549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Reception Score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1248" y="3154680"/>
            <a:ext cx="3931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all comments by Post ID and computed an average sentiment score per post — the Brand Reception Score.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8600" y="3758184"/>
            <a:ext cx="4663440" cy="87782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CBD5E1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28600" y="3758184"/>
            <a:ext cx="502920" cy="87782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228600" y="3758184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381304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Filtering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" y="4142232"/>
            <a:ext cx="3931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and flagged heavily repeated spam comments using frequency thresholds to prevent artificial sentiment inflation.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120640" y="1783080"/>
            <a:ext cx="3749040" cy="2999232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25" name="Text 23"/>
          <p:cNvSpPr/>
          <p:nvPr/>
        </p:nvSpPr>
        <p:spPr>
          <a:xfrm>
            <a:off x="5303520" y="18745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Comparison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303520" y="2331720"/>
            <a:ext cx="3383280" cy="105156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7" name="Text 25"/>
          <p:cNvSpPr/>
          <p:nvPr/>
        </p:nvSpPr>
        <p:spPr>
          <a:xfrm>
            <a:off x="5440680" y="240487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40680" y="2743200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heuristic scoring; ideal for short social media text. Uses a pre-built lexicon of sentiment-tagged words.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303520" y="3520440"/>
            <a:ext cx="3383280" cy="105156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0" name="Text 28"/>
          <p:cNvSpPr/>
          <p:nvPr/>
        </p:nvSpPr>
        <p:spPr>
          <a:xfrm>
            <a:off x="5440680" y="359359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40680" y="3931920"/>
            <a:ext cx="3108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Transformer-based model for deep contextual understanding. Handles sarcasm, slang, and multi-word sentiment.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28600" y="4828032"/>
            <a:ext cx="8686800" cy="201168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33" name="Text 31"/>
          <p:cNvSpPr/>
          <p:nvPr/>
        </p:nvSpPr>
        <p:spPr>
          <a:xfrm>
            <a:off x="365760" y="482803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Per-post Brand Reception Score + sentiment category labels (Positive / Neutral / Negative)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›  Efforts &amp; Methodology (3/4) — Feature Engineering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685800"/>
            <a:ext cx="73152" cy="44577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41248"/>
            <a:ext cx="1371600" cy="47548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84124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737360" y="841248"/>
            <a:ext cx="7132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Scoring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37360" y="132588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Notebook: 03_Feature_Engineering_and_Scoring.ipynb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8600" y="1737360"/>
            <a:ext cx="41605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CBD5E1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" y="1737360"/>
            <a:ext cx="41605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393192" y="1810512"/>
            <a:ext cx="3794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Viral_Ratio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93192" y="2267712"/>
            <a:ext cx="3794760" cy="34747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3" name="Text 11"/>
          <p:cNvSpPr/>
          <p:nvPr/>
        </p:nvSpPr>
        <p:spPr>
          <a:xfrm>
            <a:off x="429768" y="226771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Shares ÷ Views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93192" y="2670048"/>
            <a:ext cx="3794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how widely an ad is organically re-shared relative to its total views. High values indicate strong word-of-mouth potential beyond paid reach.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17720" y="1737360"/>
            <a:ext cx="41605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CBD5E1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1737360"/>
            <a:ext cx="41605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810512"/>
            <a:ext cx="3794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Sentiment_Weighted_Engagement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82312" y="2267712"/>
            <a:ext cx="3794760" cy="34747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9" name="Text 17"/>
          <p:cNvSpPr/>
          <p:nvPr/>
        </p:nvSpPr>
        <p:spPr>
          <a:xfrm>
            <a:off x="4818888" y="226771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Engagement Score × Sentiment Polarity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82312" y="2670048"/>
            <a:ext cx="3794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Penalizes high-interaction posts with negative sentiment and rewards posts where strong engagement aligns with positive audience reception.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28600" y="3977640"/>
            <a:ext cx="86868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CBD5E1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28600" y="3977640"/>
            <a:ext cx="502920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228600" y="3977640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41248" y="404164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Categorization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41248" y="4370832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of ad viewing split into Peak hours and Off-Peak hours — enabling temporal analysis of when sponsored posts drive the highest engagement.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›  Efforts &amp; Methodology (4/4) — Pipeline &amp; Automation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685800"/>
            <a:ext cx="73152" cy="44577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41248"/>
            <a:ext cx="1371600" cy="47548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84124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737360" y="841248"/>
            <a:ext cx="7132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Construction &amp; Automation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37360" y="132588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Execution: src/app.py — centralized end-to-end pipeline script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8600" y="1755648"/>
            <a:ext cx="1536192" cy="530352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10" name="Text 8"/>
          <p:cNvSpPr/>
          <p:nvPr/>
        </p:nvSpPr>
        <p:spPr>
          <a:xfrm>
            <a:off x="228600" y="1755648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Validation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64792" y="1911096"/>
            <a:ext cx="201168" cy="54864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12" name="Shape 10"/>
          <p:cNvSpPr/>
          <p:nvPr/>
        </p:nvSpPr>
        <p:spPr>
          <a:xfrm>
            <a:off x="1929384" y="1856232"/>
            <a:ext cx="36576" cy="164592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13" name="Shape 11"/>
          <p:cNvSpPr/>
          <p:nvPr/>
        </p:nvSpPr>
        <p:spPr>
          <a:xfrm>
            <a:off x="1965960" y="1755648"/>
            <a:ext cx="1536192" cy="5303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1965960" y="1755648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Module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502152" y="1911096"/>
            <a:ext cx="201168" cy="54864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16" name="Shape 14"/>
          <p:cNvSpPr/>
          <p:nvPr/>
        </p:nvSpPr>
        <p:spPr>
          <a:xfrm>
            <a:off x="3666744" y="1856232"/>
            <a:ext cx="36576" cy="164592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17" name="Shape 15"/>
          <p:cNvSpPr/>
          <p:nvPr/>
        </p:nvSpPr>
        <p:spPr>
          <a:xfrm>
            <a:off x="3703320" y="1755648"/>
            <a:ext cx="1536192" cy="5303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3703320" y="1755648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Module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239512" y="1911096"/>
            <a:ext cx="201168" cy="54864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20" name="Shape 18"/>
          <p:cNvSpPr/>
          <p:nvPr/>
        </p:nvSpPr>
        <p:spPr>
          <a:xfrm>
            <a:off x="5404104" y="1856232"/>
            <a:ext cx="36576" cy="164592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21" name="Shape 19"/>
          <p:cNvSpPr/>
          <p:nvPr/>
        </p:nvSpPr>
        <p:spPr>
          <a:xfrm>
            <a:off x="5440680" y="1755648"/>
            <a:ext cx="1536192" cy="5303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5440680" y="1755648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Module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976872" y="1911096"/>
            <a:ext cx="201168" cy="54864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24" name="Shape 22"/>
          <p:cNvSpPr/>
          <p:nvPr/>
        </p:nvSpPr>
        <p:spPr>
          <a:xfrm>
            <a:off x="7141464" y="1856232"/>
            <a:ext cx="36576" cy="164592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25" name="Shape 23"/>
          <p:cNvSpPr/>
          <p:nvPr/>
        </p:nvSpPr>
        <p:spPr>
          <a:xfrm>
            <a:off x="7178040" y="1755648"/>
            <a:ext cx="1536192" cy="530352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26" name="Text 24"/>
          <p:cNvSpPr/>
          <p:nvPr/>
        </p:nvSpPr>
        <p:spPr>
          <a:xfrm>
            <a:off x="7178040" y="1755648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Report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28600" y="2487168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Overcome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228600" y="2926080"/>
            <a:ext cx="274320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CBD5E1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28600" y="2926080"/>
            <a:ext cx="274320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0" name="Text 28"/>
          <p:cNvSpPr/>
          <p:nvPr/>
        </p:nvSpPr>
        <p:spPr>
          <a:xfrm>
            <a:off x="228600" y="29992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365760" y="354787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&amp; Slang Text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38328" y="3977640"/>
            <a:ext cx="252374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comments frequently contain colloquialisms, abbreviations, emojis, and non-English words. A custom pre-processing layer normalizes these before NLP.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154680" y="2926080"/>
            <a:ext cx="274320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CBD5E1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154680" y="2926080"/>
            <a:ext cx="274320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5" name="Text 33"/>
          <p:cNvSpPr/>
          <p:nvPr/>
        </p:nvSpPr>
        <p:spPr>
          <a:xfrm>
            <a:off x="3154680" y="29992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3291840" y="354787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Skewed Like Distribution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264408" y="3977640"/>
            <a:ext cx="252374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posts receive very few likes while a small number go viral, creating a heavily right-skewed distribution. Addressed using Min-Max normalization and log-transform inspection.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080760" y="2926080"/>
            <a:ext cx="274320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CBD5E1">
                <a:alpha val="3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080760" y="2926080"/>
            <a:ext cx="274320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0" name="Text 38"/>
          <p:cNvSpPr/>
          <p:nvPr/>
        </p:nvSpPr>
        <p:spPr>
          <a:xfrm>
            <a:off x="6080760" y="29992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6217920" y="354787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&amp; Bot Comments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190488" y="3977640"/>
            <a:ext cx="252374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identical comments from bot accounts artificially inflated sentiment scores. Frequency-based flagging detects and excludes these records before aggregation.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7830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›  Results (1/4) — Sentiment Distribution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685800"/>
            <a:ext cx="73152" cy="44577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41248"/>
            <a:ext cx="201168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CBD5E1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41248"/>
            <a:ext cx="201168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" y="969264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28600" y="16459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Sentiment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04872" y="841248"/>
            <a:ext cx="201168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CBD5E1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04872" y="841248"/>
            <a:ext cx="201168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2404872" y="969264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2404872" y="16459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Sentiment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81144" y="841248"/>
            <a:ext cx="201168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CBD5E1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81144" y="841248"/>
            <a:ext cx="2011680" cy="640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4581144" y="969264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4581144" y="16459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Sentiment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57416" y="841248"/>
            <a:ext cx="201168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CBD5E1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57416" y="841248"/>
            <a:ext cx="2011680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6757416" y="969264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+0.68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757416" y="16459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r</a:t>
            </a:r>
            <a:endParaRPr lang="en-US" sz="11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228600" y="2212848"/>
          <a:ext cx="384048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hape 19"/>
          <p:cNvSpPr/>
          <p:nvPr/>
        </p:nvSpPr>
        <p:spPr>
          <a:xfrm>
            <a:off x="4297680" y="2212848"/>
            <a:ext cx="4572000" cy="265176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23" name="Text 20"/>
          <p:cNvSpPr/>
          <p:nvPr/>
        </p:nvSpPr>
        <p:spPr>
          <a:xfrm>
            <a:off x="4480560" y="2331720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480560" y="2743200"/>
            <a:ext cx="4206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positive sentiment strongly correlates (r = +0.68) with a high Share/Save ratio.
</a:t>
            </a:r>
            <a:pPr indent="0" marL="0">
              <a:buNone/>
            </a:pPr>
            <a:r>
              <a:rPr lang="en-US" sz="115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means comments are a far better predictor of conversion intent than passive likes, which can be inflated by algorithmic reach without genuine audience interest.
</a:t>
            </a:r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automated pipeline processes thousands of interactions in seconds, generating complete HTML reports.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›  Results (2/4) — Engagement Score &amp; Format Analysis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685800"/>
            <a:ext cx="73152" cy="4457700"/>
          </a:xfrm>
          <a:prstGeom prst="rect">
            <a:avLst/>
          </a:prstGeom>
          <a:solidFill>
            <a:srgbClr val="2563EB"/>
          </a:solidFill>
          <a:ln/>
        </p:spPr>
      </p:sp>
      <p:graphicFrame>
        <p:nvGraphicFramePr>
          <p:cNvPr id="5" name="Chart 0" descr=""/>
          <p:cNvGraphicFramePr/>
          <p:nvPr/>
        </p:nvGraphicFramePr>
        <p:xfrm>
          <a:off x="228600" y="841248"/>
          <a:ext cx="42062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228600" y="3886200"/>
            <a:ext cx="4206240" cy="91440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3886200"/>
            <a:ext cx="3977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Shape: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Scores follow a log-normal distribution — most ads cluster at low engagement, with a long tail of viral outliers driving average scores up.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663440" y="841248"/>
            <a:ext cx="4251960" cy="160020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9" name="Text 6"/>
          <p:cNvSpPr/>
          <p:nvPr/>
        </p:nvSpPr>
        <p:spPr>
          <a:xfrm>
            <a:off x="4846320" y="91440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Scatter Finding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846320" y="1298448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polarizing posts — both very positive AND very negative — receive the most visibility. This confirms that emotional resonance (in either direction) drives the Instagram algorithm more than neutral content.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63440" y="2606040"/>
            <a:ext cx="425196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CBD5E1">
                <a:alpha val="2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709160" y="2606040"/>
            <a:ext cx="594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5321808" y="269748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Ads  —  +35%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321808" y="306324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sustained engagement than image posts across all sentiment categories.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663440" y="3703320"/>
            <a:ext cx="425196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CBD5E1">
                <a:alpha val="2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4709160" y="3703320"/>
            <a:ext cx="594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🖼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5321808" y="379476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Ads  —  Baseline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321808" y="4160520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for product showcases but weaker for storytelling and brand recall.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›  Results (3/4) — Business Insights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685800"/>
            <a:ext cx="73152" cy="44577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228600" y="841248"/>
            <a:ext cx="8686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revealed about ad performance on Instagram: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" y="1325880"/>
            <a:ext cx="4160520" cy="16276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CBD5E1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325880"/>
            <a:ext cx="41605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393192" y="141732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Comments &gt; Likes for Conversion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3192" y="1837944"/>
            <a:ext cx="37947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likes can be inflated by paid reach alone. Comment sentiment is a far stronger signal of genuine purchase intent and brand trust. Brands should weight comment quality over raw like counts.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17720" y="1325880"/>
            <a:ext cx="4160520" cy="16276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CBD5E1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1325880"/>
            <a:ext cx="416052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782312" y="141732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Emotional Triggers Drive Reach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82312" y="1837944"/>
            <a:ext cx="37947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that provoked high positive or high negative sentiment both achieved superior algorithmic reach. Content designed to elicit a strong reaction — positive storytelling or controversy — outperforms safe, neutral messaging.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8600" y="3108960"/>
            <a:ext cx="4160520" cy="16276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CBD5E1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28600" y="3108960"/>
            <a:ext cx="41605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393192" y="320040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 Generic CTAs Underperform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3192" y="3621024"/>
            <a:ext cx="37947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featuring generic 'Buy Now' or 'Shop Today' text consistently scored predominantly neutral sentiment with low share rates. Personalized, narrative-driven CTAs perform significantly better.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17720" y="3108960"/>
            <a:ext cx="4160520" cy="16276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CBD5E1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3108960"/>
            <a:ext cx="41605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4782312" y="320040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 Timing Matters: Peak vs Off-Peak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782312" y="3621024"/>
            <a:ext cx="37947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published during Peak hours showed measurably higher engagement rates. Temporal analysis confirms that ad scheduling is a key optimization lever that most brands underutilize.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›  Results (4/4) — Conclusion &amp; Future Improvements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685800"/>
            <a:ext cx="73152" cy="44577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41248"/>
            <a:ext cx="8686800" cy="123444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877824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Conclusion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23444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composite engagement score provides brands a far clearer picture of Ad ROI than standard vanity metrics — combining quantitative interactions with qualitative sentiment signals for a truly holistic measure of campaign effectiveness.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28600" y="2240280"/>
            <a:ext cx="8686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Improvements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28600" y="2743200"/>
            <a:ext cx="2743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CBD5E1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" y="2743200"/>
            <a:ext cx="27432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" y="2816352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65760" y="341071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LLM Integration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3904488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Llama-3 or GPT-4o-mini API for richer semantic comment analysis, nuanced brand perception scoring, and handling of multilingual content at scale.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36392" y="2743200"/>
            <a:ext cx="2743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CBD5E1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136392" y="2743200"/>
            <a:ext cx="27432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3136392" y="2816352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273552" y="341071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Modeling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73552" y="3904488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forecasting layer to predict future engagement based on first-hour metrics — enabling brands to optimize campaigns in real-time before budgets are exhausted.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44184" y="2743200"/>
            <a:ext cx="2743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CBD5E1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44184" y="2743200"/>
            <a:ext cx="27432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6044184" y="2816352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181344" y="341071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Expansion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181344" y="3904488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pipeline beyond Instagram to YouTube, Twitter/X, and TikTok for unified cross-platform engagement benchmarking and competitive analysis.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23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 •  GROUP 35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8686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Division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627632"/>
            <a:ext cx="8595360" cy="685800"/>
          </a:xfrm>
          <a:prstGeom prst="rect">
            <a:avLst/>
          </a:prstGeom>
          <a:solidFill>
            <a:srgbClr val="1E2F6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627632"/>
            <a:ext cx="109728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1627632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1700784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 Kumar Yadav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20116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B24CM1008  •  Project Lead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97680" y="162763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Pipeline Automation &amp; Documentation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432304"/>
            <a:ext cx="8595360" cy="685800"/>
          </a:xfrm>
          <a:prstGeom prst="rect">
            <a:avLst/>
          </a:prstGeom>
          <a:solidFill>
            <a:srgbClr val="1E2F6A"/>
          </a:solidFill>
          <a:ln/>
        </p:spPr>
      </p:sp>
      <p:sp>
        <p:nvSpPr>
          <p:cNvPr id="13" name="Shape 11"/>
          <p:cNvSpPr/>
          <p:nvPr/>
        </p:nvSpPr>
        <p:spPr>
          <a:xfrm>
            <a:off x="274320" y="2432304"/>
            <a:ext cx="109728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384048" y="2432304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2505456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Sumit Kumar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68680" y="28163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B24CM1076  •  Data Engineer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97680" y="243230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 (EDA) &amp; Data Preprocessing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3236976"/>
            <a:ext cx="8595360" cy="685800"/>
          </a:xfrm>
          <a:prstGeom prst="rect">
            <a:avLst/>
          </a:prstGeom>
          <a:solidFill>
            <a:srgbClr val="1E2F6A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3236976"/>
            <a:ext cx="109728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384048" y="3236976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68680" y="331012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Bansode Anshum Achyut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8680" y="3621024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B24CM1085  •  ML Engineer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297680" y="3236976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Analysis, Modeling &amp; Evaluation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41648"/>
            <a:ext cx="8595360" cy="685800"/>
          </a:xfrm>
          <a:prstGeom prst="rect">
            <a:avLst/>
          </a:prstGeom>
          <a:solidFill>
            <a:srgbClr val="1E2F6A"/>
          </a:solidFill>
          <a:ln/>
        </p:spPr>
      </p:sp>
      <p:sp>
        <p:nvSpPr>
          <p:cNvPr id="25" name="Shape 23"/>
          <p:cNvSpPr/>
          <p:nvPr/>
        </p:nvSpPr>
        <p:spPr>
          <a:xfrm>
            <a:off x="274320" y="4041648"/>
            <a:ext cx="109728" cy="6858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6" name="Text 24"/>
          <p:cNvSpPr/>
          <p:nvPr/>
        </p:nvSpPr>
        <p:spPr>
          <a:xfrm>
            <a:off x="384048" y="4041648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68680" y="411480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Tejas Santosh Batav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68680" y="442569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B24CS1018  •  Analyst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97680" y="404164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Engineering, Scoring Logic &amp; Result Visualizations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A235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00"/>
            <a:ext cx="9144000" cy="148590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11480" y="2560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315468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35  •  Ad Engagement Analysis  •  IIT Jodhpur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 Engagement Analysis</dc:title>
  <dc:subject>PptxGenJS Presentation</dc:subject>
  <dc:creator>PptxGenJS</dc:creator>
  <cp:lastModifiedBy>PptxGenJS</cp:lastModifiedBy>
  <cp:revision>1</cp:revision>
  <dcterms:created xsi:type="dcterms:W3CDTF">2026-04-12T10:39:18Z</dcterms:created>
  <dcterms:modified xsi:type="dcterms:W3CDTF">2026-04-12T10:39:18Z</dcterms:modified>
</cp:coreProperties>
</file>