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265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14400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Ad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Analysis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199" y="3302000"/>
            <a:ext cx="7692571" cy="995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 Kumar Yadav (B24CM1008) 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Sumit Kumar (B24CM1076) 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Bansode Anshum Achyut (B24CM1085) 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 Santosh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Batav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(B24CS1018)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 1 /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of Measuring Ad Effectiveness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83464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3444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283464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68880"/>
            <a:ext cx="411480" cy="41148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" y="2423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411480" cy="41148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24128" y="3200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Misleading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411480" cy="41148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24128" y="3977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Backlash vs.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29000" y="1188720"/>
            <a:ext cx="5394960" cy="356616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highly competitive landscape of social media marketing, understanding how users interact with sponsored content is critical.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engagement metrics (likes, shares, simple comment counts) often fail to capture the true user sentiment and qualitative impact of an ad campaign.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struggle to differentiate between viral negative backlash and genuine positive brand engagement.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 is to move beyond superficial metrics and dive deeper into the actual text of user interactions.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 2 /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comprehensive, automated data science pipeline that analyzes user interactions with Instagram sponsored posts.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82296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28800"/>
            <a:ext cx="64008" cy="822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" y="1828800"/>
            <a:ext cx="77724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828800"/>
            <a:ext cx="777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98448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Sentiment Evaluation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98448" y="223113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qualitative sentiment of user comments using Natural Language Processing (NLP).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8412480" cy="82296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788920"/>
            <a:ext cx="64008" cy="822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" y="2788920"/>
            <a:ext cx="77724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788920"/>
            <a:ext cx="777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98448" y="2834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Engagement Scoring Matrix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98448" y="319125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 Custom Engagement Scoring Matrix to rank ad campaigns effectively based on holistic metrics.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8412480" cy="82296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749040"/>
            <a:ext cx="64008" cy="822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" y="3749040"/>
            <a:ext cx="77724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749040"/>
            <a:ext cx="777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98448" y="3794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Machine Learning Models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98448" y="415137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predictive machine learning models to identify patterns that drive high-quality engagement.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Comments Dataset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393192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430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3931920" cy="45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848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29900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comments_cleaned.csv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4015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48640" y="364845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Pre-cleaned Real-World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0599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8640" y="430682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ML Pipeline Entry Point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1143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Features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0" y="1600200"/>
            <a:ext cx="2011680" cy="512064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600200"/>
            <a:ext cx="64008" cy="5120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27448" y="1600200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20840" y="1600200"/>
            <a:ext cx="2011680" cy="512064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0840" y="1600200"/>
            <a:ext cx="64008" cy="5120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76288" y="1600200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0" y="2258568"/>
            <a:ext cx="2011680" cy="512064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2258568"/>
            <a:ext cx="64008" cy="5120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7448" y="2258568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720840" y="2258568"/>
            <a:ext cx="2011680" cy="512064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20840" y="2258568"/>
            <a:ext cx="64008" cy="5120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76288" y="2258568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id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0" y="2916936"/>
            <a:ext cx="2011680" cy="512064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2916936"/>
            <a:ext cx="64008" cy="5120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27448" y="2916936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Timestamp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720840" y="2916936"/>
            <a:ext cx="2011680" cy="512064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20840" y="2916936"/>
            <a:ext cx="64008" cy="5120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76288" y="2916936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date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0" y="3575304"/>
            <a:ext cx="2011680" cy="512064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3575304"/>
            <a:ext cx="64008" cy="5120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27448" y="3575304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 used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720840" y="3575304"/>
            <a:ext cx="2011680" cy="512064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20840" y="3575304"/>
            <a:ext cx="64008" cy="5120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76288" y="3575304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Hashtags used count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572000" y="42519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The dataset contains cleaned, real-world user comments and interaction metadata from various Instagram ad campaigns.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USED  1 /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(Sentiment Analysis)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56032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430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2560320" cy="45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116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NLP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2286000" cy="457200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88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Scale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291840"/>
            <a:ext cx="2286000" cy="2011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2918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-1.0  ←  Negative           Positive  →  +1.0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02920" y="36118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Subjectivity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858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(objective) → 1.0 (subjective)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1143000"/>
            <a:ext cx="5577840" cy="1078992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143000"/>
            <a:ext cx="64008" cy="10789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12344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55848" y="150876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and extract emotional context from raw comment text.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0" y="2331720"/>
            <a:ext cx="5577840" cy="1078992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331720"/>
            <a:ext cx="64008" cy="10789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2423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55848" y="269748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comment polarity (–1.0 to +1.0) and subjectivity scores per comment.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0" y="3520440"/>
            <a:ext cx="5577840" cy="1078992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3520440"/>
            <a:ext cx="64008" cy="10789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36118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TextBlob?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55848" y="388620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an efficient, robust lexicon-based approach to instantly gauge audience reception to specific ad campaigns without needing complex manual labeling.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USED  2 /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Machine Learning Shootout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Used: XGBoost, LightGBM, and Scikit-Learn baseline models.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To predict high-engagement ad campaigns based on aggregated features and sentiment scores.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4160520" cy="3017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74520"/>
            <a:ext cx="4160520" cy="640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01952"/>
            <a:ext cx="4160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417320" y="2606040"/>
            <a:ext cx="2057400" cy="320040"/>
          </a:xfrm>
          <a:prstGeom prst="roundRect">
            <a:avLst>
              <a:gd name="adj" fmla="val 14286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26060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3063240"/>
            <a:ext cx="256032" cy="25603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017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handling of complex, non-linear feature interactions.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630168"/>
            <a:ext cx="256032" cy="25603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5844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performance on structured tabular data.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197096"/>
            <a:ext cx="256032" cy="25603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15137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gains in handling outliers.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1874520"/>
            <a:ext cx="4160520" cy="3017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874520"/>
            <a:ext cx="4160520" cy="640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901952"/>
            <a:ext cx="4160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852160" y="2606040"/>
            <a:ext cx="2057400" cy="320040"/>
          </a:xfrm>
          <a:prstGeom prst="roundRect">
            <a:avLst>
              <a:gd name="adj" fmla="val 14286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26060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01768" y="3063240"/>
            <a:ext cx="256032" cy="25603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67528" y="3017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efficient, fast training on large datasets.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01768" y="3630168"/>
            <a:ext cx="256032" cy="25603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67528" y="35844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support for categorical features.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01768" y="4197096"/>
            <a:ext cx="256032" cy="25603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67528" y="415137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faster training times than XGBoost.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tree-based ensemble methods are ideal for tabular engagement data and feature importance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EFFORTS &amp; METHODOLOGY  1 /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 &amp; Automation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234440" cy="12344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80160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2578608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 Introduced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00200" y="1897380"/>
            <a:ext cx="484632" cy="0"/>
          </a:xfrm>
          <a:prstGeom prst="line">
            <a:avLst/>
          </a:prstGeom>
          <a:noFill/>
          <a:ln w="31750">
            <a:solidFill>
              <a:srgbClr val="0E74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84832" y="1280160"/>
            <a:ext cx="1234440" cy="12344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84832" y="1280160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993392" y="2578608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src/app.py Triggered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19272" y="1897380"/>
            <a:ext cx="484632" cy="0"/>
          </a:xfrm>
          <a:prstGeom prst="line">
            <a:avLst/>
          </a:prstGeom>
          <a:noFill/>
          <a:ln w="31750">
            <a:solidFill>
              <a:srgbClr val="0E74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03904" y="1280160"/>
            <a:ext cx="1234440" cy="12344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03904" y="1280160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12464" y="2578608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Executed Sequentially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38344" y="1897380"/>
            <a:ext cx="484632" cy="0"/>
          </a:xfrm>
          <a:prstGeom prst="line">
            <a:avLst/>
          </a:prstGeom>
          <a:noFill/>
          <a:ln w="31750">
            <a:solidFill>
              <a:srgbClr val="0E74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22976" y="1280160"/>
            <a:ext cx="1234440" cy="12344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22976" y="1280160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431536" y="2578608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Reports Generated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57416" y="1897380"/>
            <a:ext cx="484632" cy="0"/>
          </a:xfrm>
          <a:prstGeom prst="line">
            <a:avLst/>
          </a:prstGeom>
          <a:noFill/>
          <a:ln w="31750">
            <a:solidFill>
              <a:srgbClr val="0E74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42048" y="1280160"/>
            <a:ext cx="1234440" cy="12344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42048" y="1280160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150608" y="2578608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Delivery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291840"/>
            <a:ext cx="8412480" cy="521208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291840"/>
            <a:ext cx="64008" cy="5212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291840"/>
            <a:ext cx="1737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Execution: 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148840" y="3291840"/>
            <a:ext cx="6492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seamless, automated end-to-end execution script (src/app.py). Iterative Execution: The script sequentially runs through specialized Jupyter Notebooks in the background.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867912"/>
            <a:ext cx="8412480" cy="521208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867912"/>
            <a:ext cx="64008" cy="5212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3867912"/>
            <a:ext cx="1737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Reporting: 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148840" y="3867912"/>
            <a:ext cx="6492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successfully executed notebooks into standalone HTML reports (reports/ directory) for easy stakeholder presentation.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443984"/>
            <a:ext cx="8412480" cy="521208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4443984"/>
            <a:ext cx="64008" cy="5212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4443984"/>
            <a:ext cx="1737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Reproducibility: 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148840" y="4443984"/>
            <a:ext cx="6492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reproducibility and continuous analysis whenever new data is introduced.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EFFORTS &amp; METHODOLOGY  2 /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– Exploratory Data Analysis (EDA)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Execution:  01_Exploratory_Data_Analysis.ipynb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8412480" cy="9144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91640"/>
            <a:ext cx="64008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" y="1691640"/>
            <a:ext cx="82296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429768" y="169164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44168" y="17647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44168" y="2075688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Investigated data distributions, missing values, and high-level trends across different ad campaigns.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770632"/>
            <a:ext cx="8412480" cy="9144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70632"/>
            <a:ext cx="64008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" y="2770632"/>
            <a:ext cx="82296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770632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44168" y="284378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44168" y="315468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Utilized Pandas, Matplotlib, and Seaborn to generate correlation matrices, engagement histograms, and time-series interaction plots.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849624"/>
            <a:ext cx="8412480" cy="9144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49624"/>
            <a:ext cx="64008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" y="3849624"/>
            <a:ext cx="82296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849624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344168" y="392277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44168" y="423367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a firm understanding of baseline metrics before applying complex models.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EFFORTS &amp; METHODOLOGY  3 /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– Sentiment Analysis Implementation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Execution:  02_Sentiment_Analysis.ipynb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8412480" cy="9144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91640"/>
            <a:ext cx="64008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" y="1691640"/>
            <a:ext cx="82296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69164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44168" y="17647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44168" y="2075688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all cleaned comments through the TextBlob NLP engine.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770632"/>
            <a:ext cx="8412480" cy="9144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70632"/>
            <a:ext cx="64008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" y="2770632"/>
            <a:ext cx="82296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770632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44168" y="284378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Creation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44168" y="315468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new columns for 'Sentiment_Polarity' and 'Sentiment_Subjectivity'.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849624"/>
            <a:ext cx="8412480" cy="9144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49624"/>
            <a:ext cx="64008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" y="3849624"/>
            <a:ext cx="82296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3" name="Text 21"/>
          <p:cNvSpPr/>
          <p:nvPr/>
        </p:nvSpPr>
        <p:spPr>
          <a:xfrm>
            <a:off x="429768" y="3849624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344168" y="392277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44168" y="423367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sentiment scores on a per-ad basis to calculate the "Average Campaign Sentiment".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EFFORTS &amp; METHODOLOGY  4 /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– Feature Engineering &amp; Scoring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Execution:  03_Feature_Engineering_and_Scoring.ipynb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8412480" cy="9144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91640"/>
            <a:ext cx="64008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" y="1691640"/>
            <a:ext cx="82296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69164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44168" y="17647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Engagement Scoring Matrix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44168" y="2075688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quantitative metrics (likes, comment volume) with qualitative metrics (average sentiment polarity).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770632"/>
            <a:ext cx="8412480" cy="9144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70632"/>
            <a:ext cx="64008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" y="2770632"/>
            <a:ext cx="82296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770632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44168" y="284378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Formula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44168" y="315468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weighted formula to generate a single "Engagement Score" for ranking ad campaigns.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849624"/>
            <a:ext cx="8412480" cy="9144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49624"/>
            <a:ext cx="64008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" y="3849624"/>
            <a:ext cx="82296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849624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344168" y="392277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Feature Preparation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44168" y="423367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the final feature set for the predictive ML shootout (XGBoost / LightGBM) to evaluate feature importance.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  1 /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vs. Raw Engagement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1556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High comment volume does not strictly correlate with high campaign success.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123444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64008" cy="1234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04288"/>
            <a:ext cx="475488" cy="47548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042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121408"/>
            <a:ext cx="7406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ads with the highest interaction rates had predominantly negative (+0.0 to -1.0) sentiment scores (e.g., controversial or polarizing ads).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8412480" cy="123444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337560"/>
            <a:ext cx="64008" cy="1234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735324"/>
            <a:ext cx="475488" cy="47548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7216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38728"/>
            <a:ext cx="7406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inclusion of NLP drastically shifted the ranking of the 'Top Performing Ads' compared to using raw counts alone.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  2 /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Engagement Matrix Outcomes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1078992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64008" cy="10789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143000"/>
            <a:ext cx="91440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143000"/>
            <a:ext cx="9144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63040" y="123444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 Picture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1572768"/>
            <a:ext cx="7132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engineered 'Engagement Score' provided a much clearer picture of brand health.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8412480" cy="1078992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77440"/>
            <a:ext cx="64008" cy="10789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" y="2377440"/>
            <a:ext cx="91440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377440"/>
            <a:ext cx="9144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463040" y="246888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Ranked Campaigns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2807208"/>
            <a:ext cx="7132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ranked campaigns successfully balanced high interaction volume with positive user sentiment (&gt; +0.4 polarity).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8412480" cy="1078992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11880"/>
            <a:ext cx="64008" cy="10789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" y="3611880"/>
            <a:ext cx="91440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3611880"/>
            <a:ext cx="9144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63040" y="370332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Segmentation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041648"/>
            <a:ext cx="7132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us to distinctly separate 'Viral Positive' campaigns from 'Viral Negative' campaigns.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" y="4846320"/>
            <a:ext cx="841248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  3 /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 Performance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"Predictive ML Shootout" Results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XGBoost and LightGBM models successfully learned the patterns of high-scoring ads.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4160520" cy="2834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011680"/>
            <a:ext cx="4160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3611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432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Strong Accuracy / R² Scores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Marginal gains in handling outliers.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Metrics: Models achieved strong accuracy/R² scores depending on the target variable threshold.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1965960"/>
            <a:ext cx="4160520" cy="2834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2011680"/>
            <a:ext cx="4160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074920" y="2743200"/>
            <a:ext cx="3611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7432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Strong Accuracy / R² Scores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338328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Slightly faster training times.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397764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Metrics: Models achieved strong accuracy/R² scores depending on the target variable threshold.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  4 /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Insights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240463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feature importance from the tree-based models.</a:t>
            </a:r>
            <a:endParaRPr lang="en-US" sz="13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E1881E0-EEA1-702D-B781-632B84A051F7}"/>
              </a:ext>
            </a:extLst>
          </p:cNvPr>
          <p:cNvGrpSpPr/>
          <p:nvPr/>
        </p:nvGrpSpPr>
        <p:grpSpPr>
          <a:xfrm>
            <a:off x="365760" y="2013966"/>
            <a:ext cx="8444484" cy="1476756"/>
            <a:chOff x="365760" y="1513332"/>
            <a:chExt cx="8444484" cy="1476756"/>
          </a:xfrm>
        </p:grpSpPr>
        <p:sp>
          <p:nvSpPr>
            <p:cNvPr id="7" name="Shape 5"/>
            <p:cNvSpPr/>
            <p:nvPr/>
          </p:nvSpPr>
          <p:spPr>
            <a:xfrm>
              <a:off x="397764" y="1513332"/>
              <a:ext cx="8412480" cy="141732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8" name="Shape 6"/>
            <p:cNvSpPr/>
            <p:nvPr/>
          </p:nvSpPr>
          <p:spPr>
            <a:xfrm>
              <a:off x="365760" y="1572768"/>
              <a:ext cx="64008" cy="1417320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530352" y="1618488"/>
              <a:ext cx="18288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INSIGHT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30352" y="1892808"/>
              <a:ext cx="8046720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'Sentiment_Polarity' and specific interaction ratios (e.g., reply-to-comment ratio) were among the strongest predictors of a top-tier ad campaign.</a:t>
              </a:r>
              <a:endParaRPr lang="en-US" sz="1400" dirty="0"/>
            </a:p>
          </p:txBody>
        </p:sp>
      </p:grpSp>
      <p:sp>
        <p:nvSpPr>
          <p:cNvPr id="24" name="Shape 22"/>
          <p:cNvSpPr/>
          <p:nvPr/>
        </p:nvSpPr>
        <p:spPr>
          <a:xfrm>
            <a:off x="365760" y="4818888"/>
            <a:ext cx="841248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457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DIVISION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160520" cy="1719072"/>
          </a:xfrm>
          <a:prstGeom prst="rect">
            <a:avLst/>
          </a:prstGeom>
          <a:solidFill>
            <a:srgbClr val="0A2233"/>
          </a:solidFill>
          <a:ln w="6350">
            <a:solidFill>
              <a:srgbClr val="1A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64008" cy="17190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792224"/>
            <a:ext cx="530352" cy="5303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79222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2801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01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88720" y="15544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 Kumar Yadav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039112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Pipeline Automation &amp; Documentation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170432"/>
            <a:ext cx="4160520" cy="1719072"/>
          </a:xfrm>
          <a:prstGeom prst="rect">
            <a:avLst/>
          </a:prstGeom>
          <a:solidFill>
            <a:srgbClr val="0A2233"/>
          </a:solidFill>
          <a:ln w="6350">
            <a:solidFill>
              <a:srgbClr val="1A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170432"/>
            <a:ext cx="64008" cy="17190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65192" y="1792224"/>
            <a:ext cx="530352" cy="5303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179222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23560" y="12801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02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23560" y="15544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Sumit Kumar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23560" y="2039112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 &amp; Data Preprocessing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072384"/>
            <a:ext cx="4160520" cy="1719072"/>
          </a:xfrm>
          <a:prstGeom prst="rect">
            <a:avLst/>
          </a:prstGeom>
          <a:solidFill>
            <a:srgbClr val="0A2233"/>
          </a:solidFill>
          <a:ln w="6350">
            <a:solidFill>
              <a:srgbClr val="1A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072384"/>
            <a:ext cx="64008" cy="17190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694176"/>
            <a:ext cx="530352" cy="5303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69417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1821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03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88720" y="345643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Bansode Anshum Achyut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3941064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Analysis, Modeling &amp; Evaluation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3072384"/>
            <a:ext cx="4160520" cy="1719072"/>
          </a:xfrm>
          <a:prstGeom prst="rect">
            <a:avLst/>
          </a:prstGeom>
          <a:solidFill>
            <a:srgbClr val="0A2233"/>
          </a:solidFill>
          <a:ln w="6350">
            <a:solidFill>
              <a:srgbClr val="1A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072384"/>
            <a:ext cx="64008" cy="17190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65192" y="3694176"/>
            <a:ext cx="530352" cy="5303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65192" y="369417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23560" y="31821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04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623560" y="345643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 Santosh Batav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623560" y="3941064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Engineering, Scoring Logic &amp; Result Visualizations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1147</Words>
  <Application>Microsoft Office PowerPoint</Application>
  <PresentationFormat>On-screen Show (16:9)</PresentationFormat>
  <Paragraphs>196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Instagram Ad Engagement Analysis</dc:title>
  <dc:subject>PptxGenJS Presentation</dc:subject>
  <dc:creator>PptxGenJS</dc:creator>
  <cp:lastModifiedBy>Anshum Bansode</cp:lastModifiedBy>
  <cp:revision>3</cp:revision>
  <dcterms:created xsi:type="dcterms:W3CDTF">2026-04-12T11:23:47Z</dcterms:created>
  <dcterms:modified xsi:type="dcterms:W3CDTF">2026-04-12T11:36:21Z</dcterms:modified>
</cp:coreProperties>
</file>